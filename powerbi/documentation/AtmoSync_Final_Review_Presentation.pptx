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83879" y="132588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83879" y="192024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83879" y="251460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83879" y="310896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183879" y="370332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83879" y="429768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83879" y="489204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183879" y="5486400"/>
            <a:ext cx="3383280" cy="16459"/>
          </a:xfrm>
          <a:prstGeom prst="rect">
            <a:avLst/>
          </a:prstGeom>
          <a:solidFill>
            <a:srgbClr val="3F5574"/>
          </a:solidFill>
          <a:ln>
            <a:solidFill>
              <a:srgbClr val="3F5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366760" y="4206240"/>
            <a:ext cx="329184" cy="1143000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6840" y="3520440"/>
            <a:ext cx="329184" cy="1828800"/>
          </a:xfrm>
          <a:prstGeom prst="roundRect">
            <a:avLst/>
          </a:prstGeom>
          <a:solidFill>
            <a:srgbClr val="40C6DC"/>
          </a:solidFill>
          <a:ln>
            <a:solidFill>
              <a:srgbClr val="4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46920" y="3886200"/>
            <a:ext cx="329184" cy="1463040"/>
          </a:xfrm>
          <a:prstGeom prst="roundRect">
            <a:avLst/>
          </a:prstGeom>
          <a:solidFill>
            <a:srgbClr val="35BE82"/>
          </a:solidFill>
          <a:ln>
            <a:solidFill>
              <a:srgbClr val="35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87000" y="2743200"/>
            <a:ext cx="329184" cy="2606040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927080" y="3474720"/>
            <a:ext cx="329184" cy="1874519"/>
          </a:xfrm>
          <a:prstGeom prst="roundRect">
            <a:avLst/>
          </a:prstGeom>
          <a:solidFill>
            <a:srgbClr val="40C6DC"/>
          </a:solidFill>
          <a:ln>
            <a:solidFill>
              <a:srgbClr val="4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051560"/>
            <a:ext cx="6675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0C6DC"/>
                </a:solidFill>
                <a:latin typeface="Aptos"/>
              </a:rPr>
              <a:t>FINAL PROJECT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691640"/>
            <a:ext cx="6675120" cy="1371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AtmoSync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880360"/>
            <a:ext cx="649224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EBF1F8"/>
                </a:solidFill>
                <a:latin typeface="Aptos"/>
              </a:rPr>
              <a:t>Micro-Climate Arbitrage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62179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B1BFD3"/>
                </a:solidFill>
                <a:latin typeface="Aptos"/>
              </a:rPr>
              <a:t>Climate-risk intelligence, spoilage analytics, and data-driven rerouting recommendations.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138928"/>
            <a:ext cx="2971800" cy="438912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5230368"/>
            <a:ext cx="26974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INFOTACT SOLUTIONS  |  DATA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144768"/>
            <a:ext cx="59436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BF1F8"/>
                </a:solidFill>
                <a:latin typeface="Aptos"/>
              </a:rPr>
              <a:t>Presented by Shreyash Rawate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Perishable inventory decisions need climate context and financial reasoning.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3493008" cy="29718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58368" y="1874519"/>
            <a:ext cx="3493008" cy="73152"/>
          </a:xfrm>
          <a:prstGeom prst="rect">
            <a:avLst/>
          </a:prstGeom>
          <a:solidFill>
            <a:srgbClr val="40C6DC"/>
          </a:solidFill>
          <a:ln>
            <a:solidFill>
              <a:srgbClr val="4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0175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40C6DC"/>
                </a:solidFill>
                <a:latin typeface="Aptos"/>
              </a:rPr>
              <a:t>CLIMATE EXPOSURE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40"/>
            <a:ext cx="2862072" cy="9694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en-US" sz="1900" b="0" dirty="0">
                <a:solidFill>
                  <a:srgbClr val="EBF1F8"/>
                </a:solidFill>
                <a:latin typeface="Aptos"/>
              </a:rPr>
              <a:t>Environmental changes can increase spoilage risk during storage and transit.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74519"/>
            <a:ext cx="3493008" cy="29718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874519"/>
            <a:ext cx="3493008" cy="73152"/>
          </a:xfrm>
          <a:prstGeom prst="rect">
            <a:avLst/>
          </a:prstGeom>
          <a:solidFill>
            <a:srgbClr val="F4B142"/>
          </a:solidFill>
          <a:ln>
            <a:solidFill>
              <a:srgbClr val="F4B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59" y="2212848"/>
            <a:ext cx="30175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4B142"/>
                </a:solidFill>
                <a:latin typeface="Aptos"/>
              </a:rPr>
              <a:t>FINANCIAL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834640"/>
            <a:ext cx="3197658" cy="12618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900" dirty="0">
                <a:solidFill>
                  <a:srgbClr val="EBF1F8"/>
                </a:solidFill>
                <a:latin typeface="Aptos"/>
              </a:rPr>
              <a:t>Spoilage can reduce usable inventory value and increase avoidable losses.</a:t>
            </a:r>
          </a:p>
          <a:p>
            <a:pPr algn="l"/>
            <a:endParaRPr sz="1900" b="0" dirty="0">
              <a:solidFill>
                <a:srgbClr val="EBF1F8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302752" y="1874519"/>
            <a:ext cx="3493008" cy="29718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02752" y="1874519"/>
            <a:ext cx="3493008" cy="73152"/>
          </a:xfrm>
          <a:prstGeom prst="rect">
            <a:avLst/>
          </a:prstGeom>
          <a:solidFill>
            <a:srgbClr val="35BE82"/>
          </a:solidFill>
          <a:ln>
            <a:solidFill>
              <a:srgbClr val="35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31352" y="2212848"/>
            <a:ext cx="30175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5BE82"/>
                </a:solidFill>
                <a:latin typeface="Aptos"/>
              </a:rPr>
              <a:t>ROUTE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3" y="2834640"/>
            <a:ext cx="3081528" cy="15542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sz="1900" dirty="0">
                <a:solidFill>
                  <a:srgbClr val="EBF1F8"/>
                </a:solidFill>
                <a:latin typeface="Aptos"/>
              </a:rPr>
              <a:t>Alternative destinations may offer better value—but only after route costs are considered.</a:t>
            </a:r>
          </a:p>
          <a:p>
            <a:pPr algn="l"/>
            <a:endParaRPr sz="1900" b="0" dirty="0">
              <a:solidFill>
                <a:srgbClr val="EBF1F8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5440680"/>
            <a:ext cx="106984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Goal: turn climate, inventory, and market data into explainable operational recommendations.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AtmoSync: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A data workflow connecting telemetry, analytical models, and business-facing reporting.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94560"/>
            <a:ext cx="2029968" cy="22860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640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091E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9718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474720"/>
            <a:ext cx="1719072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IoT / climate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301752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40C6DC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2194560"/>
            <a:ext cx="2029968" cy="22860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2450592"/>
            <a:ext cx="640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0C6D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9718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6264" y="3488546"/>
            <a:ext cx="2019784" cy="2923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EBF1F8"/>
                </a:solidFill>
                <a:latin typeface="Aptos"/>
              </a:rPr>
              <a:t>Snowflake data </a:t>
            </a:r>
            <a:r>
              <a:rPr sz="1300" b="0" dirty="0" err="1">
                <a:solidFill>
                  <a:srgbClr val="EBF1F8"/>
                </a:solidFill>
                <a:latin typeface="Aptos"/>
              </a:rPr>
              <a:t>wareh</a:t>
            </a:r>
            <a:r>
              <a:rPr lang="en-IN" sz="1300" b="0" dirty="0" err="1">
                <a:solidFill>
                  <a:srgbClr val="EBF1F8"/>
                </a:solidFill>
                <a:latin typeface="Aptos"/>
              </a:rPr>
              <a:t>ouse</a:t>
            </a:r>
            <a:endParaRPr sz="1300" b="0" dirty="0">
              <a:solidFill>
                <a:srgbClr val="EBF1F8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956048" y="301752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40C6D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194560"/>
            <a:ext cx="2029968" cy="22860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22392" y="2450592"/>
            <a:ext cx="640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5BE8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9718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TRANSFORM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0801" y="3429000"/>
            <a:ext cx="1788951" cy="692497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 dirty="0" err="1">
                <a:solidFill>
                  <a:srgbClr val="EBF1F8"/>
                </a:solidFill>
                <a:latin typeface="Aptos"/>
              </a:rPr>
              <a:t>dbt</a:t>
            </a:r>
            <a:r>
              <a:rPr sz="1300" b="0" dirty="0">
                <a:solidFill>
                  <a:srgbClr val="EBF1F8"/>
                </a:solidFill>
                <a:latin typeface="Aptos"/>
              </a:rPr>
              <a:t> staging &amp; </a:t>
            </a:r>
            <a:r>
              <a:rPr sz="1300" b="0" dirty="0" err="1">
                <a:solidFill>
                  <a:srgbClr val="EBF1F8"/>
                </a:solidFill>
                <a:latin typeface="Aptos"/>
              </a:rPr>
              <a:t>analyti</a:t>
            </a:r>
            <a:r>
              <a:rPr lang="en-IN" sz="1300" b="0" dirty="0">
                <a:solidFill>
                  <a:srgbClr val="EBF1F8"/>
                </a:solidFill>
                <a:latin typeface="Aptos"/>
              </a:rPr>
              <a:t>c</a:t>
            </a:r>
            <a:r>
              <a:rPr sz="1300" b="0" dirty="0">
                <a:solidFill>
                  <a:srgbClr val="EBF1F8"/>
                </a:solidFill>
                <a:latin typeface="Aptos"/>
              </a:rPr>
              <a:t>al </a:t>
            </a:r>
            <a:endParaRPr lang="en-IN" sz="1300" b="0" dirty="0">
              <a:solidFill>
                <a:srgbClr val="EBF1F8"/>
              </a:solidFill>
              <a:latin typeface="Aptos"/>
            </a:endParaRPr>
          </a:p>
          <a:p>
            <a:pPr algn="l"/>
            <a:r>
              <a:rPr lang="en-IN" sz="1300" dirty="0">
                <a:solidFill>
                  <a:srgbClr val="EBF1F8"/>
                </a:solidFill>
                <a:latin typeface="Aptos"/>
              </a:rPr>
              <a:t>M</a:t>
            </a:r>
            <a:r>
              <a:rPr sz="1300" b="0" dirty="0">
                <a:solidFill>
                  <a:srgbClr val="EBF1F8"/>
                </a:solidFill>
                <a:latin typeface="Aptos"/>
              </a:rPr>
              <a:t>o</a:t>
            </a:r>
            <a:r>
              <a:rPr lang="en-IN" sz="1300" b="0" dirty="0">
                <a:solidFill>
                  <a:srgbClr val="EBF1F8"/>
                </a:solidFill>
                <a:latin typeface="Aptos"/>
              </a:rPr>
              <a:t>dels</a:t>
            </a:r>
          </a:p>
          <a:p>
            <a:pPr algn="l"/>
            <a:endParaRPr sz="1300" b="0" dirty="0">
              <a:solidFill>
                <a:srgbClr val="EBF1F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87768" y="301752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40C6DC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9076" y="2194560"/>
            <a:ext cx="2029968" cy="22860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1" y="2450592"/>
            <a:ext cx="640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4B142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1" y="29718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1" y="3474720"/>
            <a:ext cx="1440587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EBF1F8"/>
                </a:solidFill>
                <a:latin typeface="Aptos"/>
              </a:rPr>
              <a:t>Spoilage</a:t>
            </a:r>
            <a:r>
              <a:rPr lang="en-IN" sz="1300" b="0" dirty="0">
                <a:solidFill>
                  <a:srgbClr val="EBF1F8"/>
                </a:solidFill>
                <a:latin typeface="Aptos"/>
              </a:rPr>
              <a:t>,</a:t>
            </a:r>
            <a:r>
              <a:rPr sz="1300" b="0" dirty="0">
                <a:solidFill>
                  <a:srgbClr val="EBF1F8"/>
                </a:solidFill>
                <a:latin typeface="Aptos"/>
              </a:rPr>
              <a:t> financial </a:t>
            </a:r>
            <a:endParaRPr lang="en-IN" sz="1300" b="0" dirty="0">
              <a:solidFill>
                <a:srgbClr val="EBF1F8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EBF1F8"/>
                </a:solidFill>
                <a:latin typeface="Aptos"/>
              </a:rPr>
              <a:t>impact &amp; arbitrage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3017520"/>
            <a:ext cx="2926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40C6DC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21240" y="2194560"/>
            <a:ext cx="2029968" cy="228600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85832" y="2450592"/>
            <a:ext cx="640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091E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2971800"/>
            <a:ext cx="1737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COMMUNICATE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3447382"/>
            <a:ext cx="2012859" cy="492443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EBF1F8"/>
                </a:solidFill>
                <a:latin typeface="Aptos"/>
              </a:rPr>
              <a:t>Power BI </a:t>
            </a:r>
            <a:r>
              <a:rPr sz="1300" b="0" dirty="0" err="1">
                <a:solidFill>
                  <a:srgbClr val="EBF1F8"/>
                </a:solidFill>
                <a:latin typeface="Aptos"/>
              </a:rPr>
              <a:t>deci</a:t>
            </a:r>
            <a:r>
              <a:rPr lang="en-IN" sz="1300" b="0" dirty="0">
                <a:solidFill>
                  <a:srgbClr val="EBF1F8"/>
                </a:solidFill>
                <a:latin typeface="Aptos"/>
              </a:rPr>
              <a:t>s</a:t>
            </a:r>
            <a:r>
              <a:rPr sz="1300" b="0" dirty="0">
                <a:solidFill>
                  <a:srgbClr val="EBF1F8"/>
                </a:solidFill>
                <a:latin typeface="Aptos"/>
              </a:rPr>
              <a:t>ion-support </a:t>
            </a:r>
            <a:endParaRPr lang="en-IN" sz="1300" b="0" dirty="0">
              <a:solidFill>
                <a:srgbClr val="EBF1F8"/>
              </a:solidFill>
              <a:latin typeface="Aptos"/>
            </a:endParaRPr>
          </a:p>
          <a:p>
            <a:pPr algn="l"/>
            <a:r>
              <a:rPr sz="1300" b="0" dirty="0">
                <a:solidFill>
                  <a:srgbClr val="EBF1F8"/>
                </a:solidFill>
                <a:latin typeface="Aptos"/>
              </a:rPr>
              <a:t>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074920"/>
            <a:ext cx="10744200" cy="713232"/>
          </a:xfrm>
          <a:prstGeom prst="roundRect">
            <a:avLst/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276088"/>
            <a:ext cx="10241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1BFD3"/>
                </a:solidFill>
                <a:latin typeface="Aptos"/>
              </a:rPr>
              <a:t>Architecture note: describe Kafka as the ingestion layer only to the extent implemented and demonstrated.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Data Model &amp; Analytical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dbt validation was completed successfully during the final review preparation.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2880360" cy="420624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40C6DC"/>
                </a:solidFill>
                <a:latin typeface="Aptos"/>
              </a:rPr>
              <a:t>DBT TEST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228600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25 / 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5BE82"/>
                </a:solidFill>
                <a:latin typeface="Aptos"/>
              </a:rPr>
              <a:t>tests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2240280" cy="1051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EBF1F8"/>
                </a:solidFill>
                <a:latin typeface="Aptos"/>
              </a:rPr>
              <a:t>0 failures
0 errors
0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Snowflake connection: 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874519"/>
            <a:ext cx="7178040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069080" y="1874519"/>
            <a:ext cx="109728" cy="960120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0" y="2020824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091EB"/>
                </a:solidFill>
                <a:latin typeface="Aptos"/>
              </a:rPr>
              <a:t>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20824"/>
            <a:ext cx="46634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EBF1F8"/>
                </a:solidFill>
                <a:latin typeface="Aptos"/>
              </a:rPr>
              <a:t>Telemetry, climate risk, exposure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136391"/>
            <a:ext cx="7178040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9080" y="3136391"/>
            <a:ext cx="109728" cy="960120"/>
          </a:xfrm>
          <a:prstGeom prst="rect">
            <a:avLst/>
          </a:prstGeom>
          <a:solidFill>
            <a:srgbClr val="40C6DC"/>
          </a:solidFill>
          <a:ln>
            <a:solidFill>
              <a:srgbClr val="4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282696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0C6DC"/>
                </a:solidFill>
                <a:latin typeface="Aptos"/>
              </a:rPr>
              <a:t>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282696"/>
            <a:ext cx="46634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EBF1F8"/>
                </a:solidFill>
                <a:latin typeface="Aptos"/>
              </a:rPr>
              <a:t>Container climate summary, spoilage, financial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69080" y="4398264"/>
            <a:ext cx="7178040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9080" y="4398264"/>
            <a:ext cx="109728" cy="960120"/>
          </a:xfrm>
          <a:prstGeom prst="rect">
            <a:avLst/>
          </a:prstGeom>
          <a:solidFill>
            <a:srgbClr val="35BE82"/>
          </a:solidFill>
          <a:ln>
            <a:solidFill>
              <a:srgbClr val="35B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454456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5BE82"/>
                </a:solidFill>
                <a:latin typeface="Aptos"/>
              </a:rPr>
              <a:t>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544568"/>
            <a:ext cx="46634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EBF1F8"/>
                </a:solidFill>
                <a:latin typeface="Aptos"/>
              </a:rPr>
              <a:t>Arbitrage candidates and rerouting recommendations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806440"/>
            <a:ext cx="6858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4B142"/>
                </a:solidFill>
                <a:latin typeface="Aptos"/>
              </a:rPr>
              <a:t>Validation scope: dbt data tests passed; full live ingestion still needs separate verification.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Power BI: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A consolidated view of climate risk, estimated spoilage, financial impact, and rerouting.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2084831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901952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B1BFD3"/>
                </a:solidFill>
                <a:latin typeface="Aptos"/>
              </a:rPr>
              <a:t>TOTAL CONTAINERS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12848"/>
            <a:ext cx="187451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737360"/>
            <a:ext cx="2084831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08376" y="1901952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B1BFD3"/>
                </a:solidFill>
                <a:latin typeface="Aptos"/>
              </a:rPr>
              <a:t>CRITICAL CONTAINERS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212848"/>
            <a:ext cx="187451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737360"/>
            <a:ext cx="2084831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12664" y="1901952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B1BFD3"/>
                </a:solidFill>
                <a:latin typeface="Aptos"/>
              </a:rPr>
              <a:t>EST. SPOILED QUANTITY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2664" y="2212848"/>
            <a:ext cx="187451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473.06*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737360"/>
            <a:ext cx="2084831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1901952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B1BFD3"/>
                </a:solidFill>
                <a:latin typeface="Aptos"/>
              </a:rPr>
              <a:t>EST. FINANCIAL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212848"/>
            <a:ext cx="187451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57.22K*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1512" y="1737360"/>
            <a:ext cx="2084831" cy="9601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21240" y="1901952"/>
            <a:ext cx="1874519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B1BFD3"/>
                </a:solidFill>
                <a:latin typeface="Aptos"/>
              </a:rPr>
              <a:t>REROUTING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212848"/>
            <a:ext cx="187451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063240"/>
            <a:ext cx="5303520" cy="109728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3246120"/>
            <a:ext cx="49377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40C6DC"/>
                </a:solidFill>
                <a:latin typeface="Aptos"/>
              </a:rPr>
              <a:t>Climate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3630168"/>
            <a:ext cx="49377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Critical readings by container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063240"/>
            <a:ext cx="5303520" cy="109728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7376" y="3246120"/>
            <a:ext cx="49377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F4B142"/>
                </a:solidFill>
                <a:latin typeface="Aptos"/>
              </a:rPr>
              <a:t>Financial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630168"/>
            <a:ext cx="49377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Estimated loss by container / commodity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434840"/>
            <a:ext cx="5303520" cy="109728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" y="4617720"/>
            <a:ext cx="49377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5BE82"/>
                </a:solidFill>
                <a:latin typeface="Aptos"/>
              </a:rPr>
              <a:t>Spoilage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001768"/>
            <a:ext cx="49377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Estimated spoilage by commodity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4434840"/>
            <a:ext cx="5303520" cy="109728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37376" y="4617720"/>
            <a:ext cx="493775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3091EB"/>
                </a:solidFill>
                <a:latin typeface="Aptos"/>
              </a:rPr>
              <a:t>Rerouting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001768"/>
            <a:ext cx="49377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EBF1F8"/>
                </a:solidFill>
                <a:latin typeface="Aptos"/>
              </a:rPr>
              <a:t>Net opportunity and decision rationale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833872"/>
            <a:ext cx="10607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B142"/>
                </a:solidFill>
                <a:latin typeface="Aptos"/>
              </a:rPr>
              <a:t>*Confirm units and currency formatting before presenting these estimated values.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Container-Level Risk &amp; Arbitrage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Use candidate-level results to compare destinations and explain recommendations.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5303520" cy="41605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663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40C6DC"/>
                </a:solidFill>
                <a:latin typeface="Aptos"/>
              </a:rPr>
              <a:t>CRITICAL CLIMATE READINGS BY 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594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BF1F8"/>
                </a:solidFill>
                <a:latin typeface="Aptos"/>
              </a:rPr>
              <a:t>C001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2715768"/>
            <a:ext cx="3383280" cy="228600"/>
          </a:xfrm>
          <a:prstGeom prst="roundRect">
            <a:avLst/>
          </a:prstGeom>
          <a:solidFill>
            <a:srgbClr val="394962"/>
          </a:solidFill>
          <a:ln>
            <a:solidFill>
              <a:srgbClr val="39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60" y="2679192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594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BF1F8"/>
                </a:solidFill>
                <a:latin typeface="Aptos"/>
              </a:rPr>
              <a:t>C002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3538728"/>
            <a:ext cx="3383280" cy="228600"/>
          </a:xfrm>
          <a:prstGeom prst="roundRect">
            <a:avLst/>
          </a:prstGeom>
          <a:solidFill>
            <a:srgbClr val="394962"/>
          </a:solidFill>
          <a:ln>
            <a:solidFill>
              <a:srgbClr val="39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691640" y="3538728"/>
            <a:ext cx="3383280" cy="228600"/>
          </a:xfrm>
          <a:prstGeom prst="roundRect">
            <a:avLst/>
          </a:prstGeom>
          <a:solidFill>
            <a:srgbClr val="40C6DC"/>
          </a:solidFill>
          <a:ln>
            <a:solidFill>
              <a:srgbClr val="4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66360" y="3502152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343400"/>
            <a:ext cx="594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EBF1F8"/>
                </a:solidFill>
                <a:latin typeface="Aptos"/>
              </a:rPr>
              <a:t>C003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4361688"/>
            <a:ext cx="3383280" cy="228600"/>
          </a:xfrm>
          <a:prstGeom prst="roundRect">
            <a:avLst/>
          </a:prstGeom>
          <a:solidFill>
            <a:srgbClr val="394962"/>
          </a:solidFill>
          <a:ln>
            <a:solidFill>
              <a:srgbClr val="3949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691640" y="4361688"/>
            <a:ext cx="2706624" cy="228600"/>
          </a:xfrm>
          <a:prstGeom prst="roundRect">
            <a:avLst/>
          </a:prstGeom>
          <a:solidFill>
            <a:srgbClr val="40C6DC"/>
          </a:solidFill>
          <a:ln>
            <a:solidFill>
              <a:srgbClr val="40C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4325112"/>
            <a:ext cx="365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4480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4B142"/>
                </a:solidFill>
                <a:latin typeface="Aptos"/>
              </a:rPr>
              <a:t>Counts shown from current report; validate metric definition.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737360"/>
            <a:ext cx="5257800" cy="4160520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1993392"/>
            <a:ext cx="4663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35BE82"/>
                </a:solidFill>
                <a:latin typeface="Aptos"/>
              </a:rPr>
              <a:t>MODELED NET OPPORTUNITY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560320"/>
            <a:ext cx="685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560320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BF1F8"/>
                </a:solidFill>
                <a:latin typeface="Aptos"/>
              </a:rPr>
              <a:t>Delhi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560320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35BE82"/>
                </a:solidFill>
                <a:latin typeface="Aptos"/>
              </a:rPr>
              <a:t>₹38,347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980944"/>
            <a:ext cx="4526280" cy="10972"/>
          </a:xfrm>
          <a:prstGeom prst="rect">
            <a:avLst/>
          </a:prstGeom>
          <a:solidFill>
            <a:srgbClr val="43536B"/>
          </a:solidFill>
          <a:ln>
            <a:solidFill>
              <a:srgbClr val="435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218687"/>
            <a:ext cx="685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C001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218687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BF1F8"/>
                </a:solidFill>
                <a:latin typeface="Aptos"/>
              </a:rPr>
              <a:t>Pune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18687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40C6DC"/>
                </a:solidFill>
                <a:latin typeface="Aptos"/>
              </a:rPr>
              <a:t>₹18,898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639311"/>
            <a:ext cx="4526280" cy="10972"/>
          </a:xfrm>
          <a:prstGeom prst="rect">
            <a:avLst/>
          </a:prstGeom>
          <a:solidFill>
            <a:srgbClr val="43536B"/>
          </a:solidFill>
          <a:ln>
            <a:solidFill>
              <a:srgbClr val="435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3877056"/>
            <a:ext cx="685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C002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877056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BF1F8"/>
                </a:solidFill>
                <a:latin typeface="Aptos"/>
              </a:rPr>
              <a:t>Best candidate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877056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C7168"/>
                </a:solidFill>
                <a:latin typeface="Aptos"/>
              </a:rPr>
              <a:t>−₹47,847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297680"/>
            <a:ext cx="4526280" cy="10972"/>
          </a:xfrm>
          <a:prstGeom prst="rect">
            <a:avLst/>
          </a:prstGeom>
          <a:solidFill>
            <a:srgbClr val="43536B"/>
          </a:solidFill>
          <a:ln>
            <a:solidFill>
              <a:srgbClr val="4353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535424"/>
            <a:ext cx="6858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C003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4535424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BF1F8"/>
                </a:solidFill>
                <a:latin typeface="Aptos"/>
              </a:rPr>
              <a:t>Best candidate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535424"/>
            <a:ext cx="16002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300" b="1">
                <a:solidFill>
                  <a:srgbClr val="EC7168"/>
                </a:solidFill>
                <a:latin typeface="Aptos"/>
              </a:rPr>
              <a:t>−₹2,726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5394960"/>
            <a:ext cx="4480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F4B142"/>
                </a:solidFill>
                <a:latin typeface="Aptos"/>
              </a:rPr>
              <a:t>Financial results are modeled, not live market quotes.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How Rerouting Recommendations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Candidate alternatives are evaluated using modeled financial assumptions.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502920" cy="502920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0136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Evaluate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01368"/>
            <a:ext cx="7680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EBF1F8"/>
                </a:solidFill>
                <a:latin typeface="Aptos"/>
              </a:rPr>
              <a:t>Compare current destination with alternatives.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788920"/>
            <a:ext cx="502920" cy="502920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880360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0720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Calculate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07208"/>
            <a:ext cx="7680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EBF1F8"/>
                </a:solidFill>
                <a:latin typeface="Aptos"/>
              </a:rPr>
              <a:t>Estimate alternative value and subtract modeled route costs.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94760"/>
            <a:ext cx="502920" cy="502920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886200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81304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813048"/>
            <a:ext cx="7680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EBF1F8"/>
                </a:solidFill>
                <a:latin typeface="Aptos"/>
              </a:rPr>
              <a:t>Sort candidates by net opportunity.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00600"/>
            <a:ext cx="502920" cy="502920"/>
          </a:xfrm>
          <a:prstGeom prst="round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4892040"/>
            <a:ext cx="274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818888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818888"/>
            <a:ext cx="7680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EBF1F8"/>
                </a:solidFill>
                <a:latin typeface="Aptos"/>
              </a:rPr>
              <a:t>Positive opportunity: consider rerouting; negative: keep current route.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5806440"/>
            <a:ext cx="10424160" cy="411480"/>
          </a:xfrm>
          <a:prstGeom prst="roundRect">
            <a:avLst/>
          </a:prstGeom>
          <a:solidFill>
            <a:srgbClr val="1D2E46"/>
          </a:solidFill>
          <a:ln>
            <a:solidFill>
              <a:srgbClr val="1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879592"/>
            <a:ext cx="100584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F4B142"/>
                </a:solidFill>
                <a:latin typeface="Aptos"/>
              </a:rPr>
              <a:t>Recommendation is decision support; execution and automated alerting are not claimed as complete.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Validation Status &amp; Remaining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Distinguish completed checks from features that still need end-to-end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98448"/>
            <a:ext cx="960120" cy="50292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212080" cy="3977639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5BE82"/>
                </a:solidFill>
                <a:latin typeface="Aptos"/>
              </a:rPr>
              <a:t>VALIDATED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743200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2743200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Snowflake connection succeeds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401568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3401568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dbt project configuration 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059935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4059935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25 of 25 dbt data tests passed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18304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4718304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Power BI dashboard pages created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828800"/>
            <a:ext cx="5212080" cy="3977639"/>
          </a:xfrm>
          <a:prstGeom prst="round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103120"/>
            <a:ext cx="45720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4B142"/>
                </a:solidFill>
                <a:latin typeface="Aptos"/>
              </a:rPr>
              <a:t>STILL TO VERIFY /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743200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743200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Kafka message flow and freshness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401568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7144" y="3401568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Source-to-dashboard reconciliation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4059935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4059935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Automated alert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11112" y="4718304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7144" y="4718304"/>
            <a:ext cx="431596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EBF1F8"/>
                </a:solidFill>
                <a:latin typeface="Aptos"/>
              </a:rPr>
              <a:t>Operational rerouting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1BFD3"/>
                </a:solidFill>
                <a:latin typeface="Aptos"/>
              </a:rPr>
              <a:t>Next: verify Kafka-to-Snowflake freshness, then document known assumptions and limitations.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4334C"/>
          </a:solidFill>
          <a:ln>
            <a:solidFill>
              <a:srgbClr val="243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78992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600200"/>
            <a:ext cx="914400" cy="54864"/>
          </a:xfrm>
          <a:prstGeom prst="rect">
            <a:avLst/>
          </a:prstGeom>
          <a:solidFill>
            <a:srgbClr val="3091EB"/>
          </a:solidFill>
          <a:ln>
            <a:solidFill>
              <a:srgbClr val="309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057400"/>
            <a:ext cx="998524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EBF1F8"/>
                </a:solidFill>
                <a:latin typeface="Aptos"/>
              </a:rPr>
              <a:t>AtmoSync connects climate-risk signals with inventory and financial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2788920"/>
            <a:ext cx="998524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EBF1F8"/>
                </a:solidFill>
                <a:latin typeface="Aptos"/>
              </a:rPr>
              <a:t>dbt tests passed, providing evidence of data-quality checks in the analytical layer.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520440"/>
            <a:ext cx="998524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EBF1F8"/>
                </a:solidFill>
                <a:latin typeface="Aptos"/>
              </a:rPr>
              <a:t>Rerouting outputs compare candidate destinations using modeled costs and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201168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40C6DC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251960"/>
            <a:ext cx="9985248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EBF1F8"/>
                </a:solidFill>
                <a:latin typeface="Aptos"/>
              </a:rPr>
              <a:t>Further work: validate live ingestion and implement automated alerts.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40C6DC"/>
                </a:solidFill>
                <a:latin typeface="Aptos"/>
              </a:rPr>
              <a:t>Thank you  |  Questions &amp;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0528"/>
            <a:ext cx="640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0">
                <a:solidFill>
                  <a:srgbClr val="B1BFD3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616</Words>
  <Application>Microsoft Office PowerPoint</Application>
  <PresentationFormat>Widescreen</PresentationFormat>
  <Paragraphs>161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Shreyash Rawate</cp:lastModifiedBy>
  <cp:revision>2</cp:revision>
  <dcterms:created xsi:type="dcterms:W3CDTF">2013-01-27T09:14:16Z</dcterms:created>
  <dcterms:modified xsi:type="dcterms:W3CDTF">2026-10-10T14:27:57Z</dcterms:modified>
  <cp:category/>
</cp:coreProperties>
</file>